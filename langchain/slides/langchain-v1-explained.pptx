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90" r:id="rId2"/>
    <p:sldId id="415" r:id="rId3"/>
    <p:sldId id="2147479627" r:id="rId4"/>
    <p:sldId id="2147479598" r:id="rId5"/>
    <p:sldId id="2147479633" r:id="rId6"/>
    <p:sldId id="2147479634" r:id="rId7"/>
    <p:sldId id="2147479629" r:id="rId8"/>
    <p:sldId id="2147479630" r:id="rId9"/>
    <p:sldId id="2147479631" r:id="rId10"/>
    <p:sldId id="404" r:id="rId11"/>
    <p:sldId id="41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7FD1"/>
    <a:srgbClr val="B83DC4"/>
    <a:srgbClr val="365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66"/>
    <p:restoredTop sz="63923"/>
  </p:normalViewPr>
  <p:slideViewPr>
    <p:cSldViewPr snapToGrid="0">
      <p:cViewPr varScale="1">
        <p:scale>
          <a:sx n="56" d="100"/>
          <a:sy n="56" d="100"/>
        </p:scale>
        <p:origin x="18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407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F853A2-ED8B-C7C9-09FE-9221878679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17B3D-CD40-D422-4E85-168EEB3D11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E44AF-C756-D746-AD17-7EBD9F7373BC}" type="datetimeFigureOut">
              <a:rPr lang="en-FR" smtClean="0"/>
              <a:t>10/12/2025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DAE09-7459-D0DA-5C7B-0571881052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D7864-9DD7-A161-927D-5EA5743751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A8C5B-0854-084E-895C-0D42EBC08ED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51707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65448-0CDB-7F46-987C-D5707B92EDA5}" type="datetimeFigureOut">
              <a:rPr lang="en-FR" smtClean="0"/>
              <a:t>10/12/2025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B6C69E-E3F3-6D40-8E64-D215F0D0D93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32022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6C69E-E3F3-6D40-8E64-D215F0D0D93C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49993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86414-21C5-45A7-8388-0ABFCD8FF1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31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C0B8-FB0E-8F77-71F6-371E2C517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015EE-D33C-47B0-2202-6CE68C1A6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D9C7B-0003-63A8-DAA5-2C53C2F34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A134A-880B-93A8-C3BE-431B82F0C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86414-21C5-45A7-8388-0ABFCD8FF1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25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5B92-DB67-020B-3A42-EEEF2F43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F42CD-7AB2-3F52-4109-BABB94CE8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043BA-FC06-369D-C83A-8AB0E262C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124BD-9445-18C8-1856-C0B723FEF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86414-21C5-45A7-8388-0ABFCD8FF1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99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6C69E-E3F3-6D40-8E64-D215F0D0D93C}" type="slidenum">
              <a:rPr lang="en-FR" smtClean="0"/>
              <a:t>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38146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6C69E-E3F3-6D40-8E64-D215F0D0D93C}" type="slidenum">
              <a:rPr lang="en-FR" smtClean="0"/>
              <a:t>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17934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6C69E-E3F3-6D40-8E64-D215F0D0D93C}" type="slidenum">
              <a:rPr lang="en-FR" smtClean="0"/>
              <a:t>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6334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6C69E-E3F3-6D40-8E64-D215F0D0D93C}" type="slidenum">
              <a:rPr lang="en-FR" smtClean="0"/>
              <a:t>10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1627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B6C69E-E3F3-6D40-8E64-D215F0D0D93C}" type="slidenum">
              <a:rPr lang="en-FR" smtClean="0"/>
              <a:t>11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38080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106E-5F99-54ED-8C83-D4368E506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C8B61-F089-924E-45BC-A9E502320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7884C-4B9F-C0FB-53F7-537AA8B12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9946-6CFD-E000-310F-D1CEC835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94CD2-32CB-C0B6-65A4-9B8F7442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3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2E20-EBF0-FD9E-5458-1DD191465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4858B-62D4-95A5-29AD-B432517F7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9993F-F1D2-8415-BB96-EDCF186A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AA906-E5CC-50A0-9B75-BC76B960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9A32D-937F-DC99-56C5-94C522C3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7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D17A-7BD2-6F45-5F3B-E8E8D48C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69C99-67F9-1B34-AD91-B421C6856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ADE27-9AB0-3399-B6E5-20628D91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BE923-CE7D-CD7F-0D68-F49AE0AB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D87BE-11A1-1F22-925D-07E82C11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8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5370-471C-35A2-D386-223467C7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76C71-048D-DD1C-B5A7-04CA6FB5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04947-B002-AD1F-06B6-87E50913E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E50FA-C3D6-C15C-BE2E-820A18AF0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6FD6F-3385-ABBB-C652-2B2F4DC2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E1056-E48C-4ADE-23CF-3E127478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3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7F9D-1404-6A9C-98F1-D1FF00357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6DB92-313A-F2ED-2D85-A8E5FD5BD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5E88E-2127-33EB-4575-47C4AFFF9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E7124-BDC0-5717-4165-43CF5E3B9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7138F-627F-8E2D-657B-2416773F0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B4B10F-1C80-B4A1-670F-2A17D91F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E5A31-4881-3FD5-F366-0F4BA97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3C2380-2C38-5F2C-5656-35E46BB2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A91A1-5AAA-5871-F25E-5D2B70DB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322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58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7940-BF9A-0571-CE81-39C471CA7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69649-FC8B-B292-D00D-14D3D1A1C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7E973-E02C-7878-44A1-2111A5289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23194-4AD9-4BD2-EBD5-0FDD49C4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3D05C-E9F6-5523-1C65-D46EB537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5F797-E3FA-7763-4EBB-798ACE69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0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DFD18-DFD6-D66F-8F44-0B4629442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EB45F-F7D6-DBF2-41F0-A6605A1E4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AE54C-E838-8009-4398-673BCA361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C607D-8908-6DBC-A021-59ECA17BD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98335-DCE4-751C-D166-E63BCABA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78C50-F363-A08E-902E-156B7953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6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5FD8-9324-C9B9-9CCE-B580738DB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EED4E-CC4E-D927-BE59-49A25846F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EE2AF-D86E-4485-61B2-350E0796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9C1A6-CC40-1D5C-3109-40D432E9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EE91B-A169-9F08-4B57-B65F0B9F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9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B46F06-9073-0082-A6B9-CC6B4C70F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143E7-4674-9D33-3F87-BFB045474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CDE3D-BA3A-6CC5-51AD-D0F234B8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2E0F7-B1E4-1A3F-EEEE-4C5A623C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B4A10-2F22-4C2F-29F7-FE7AF984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10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: Single Speaker Logo (Patter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 PATTERN">
            <a:extLst>
              <a:ext uri="{FF2B5EF4-FFF2-40B4-BE49-F238E27FC236}">
                <a16:creationId xmlns:a16="http://schemas.microsoft.com/office/drawing/2014/main" id="{BA8D8F53-59AC-A494-29B8-2857768EA0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23" y="0"/>
            <a:ext cx="12141809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68233E8-013E-F931-8308-B5AA0C8028AA}"/>
              </a:ext>
            </a:extLst>
          </p:cNvPr>
          <p:cNvGrpSpPr/>
          <p:nvPr userDrawn="1"/>
        </p:nvGrpSpPr>
        <p:grpSpPr>
          <a:xfrm>
            <a:off x="0" y="0"/>
            <a:ext cx="7820994" cy="6858000"/>
            <a:chOff x="34117" y="0"/>
            <a:chExt cx="7820994" cy="68580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45C583A-F8CC-5F48-1284-94300C57CA90}"/>
                </a:ext>
              </a:extLst>
            </p:cNvPr>
            <p:cNvSpPr/>
            <p:nvPr userDrawn="1"/>
          </p:nvSpPr>
          <p:spPr>
            <a:xfrm>
              <a:off x="252101" y="0"/>
              <a:ext cx="7603010" cy="6858000"/>
            </a:xfrm>
            <a:custGeom>
              <a:avLst/>
              <a:gdLst>
                <a:gd name="connsiteX0" fmla="*/ 0 w 7603010"/>
                <a:gd name="connsiteY0" fmla="*/ 0 h 6858000"/>
                <a:gd name="connsiteX1" fmla="*/ 7601266 w 7603010"/>
                <a:gd name="connsiteY1" fmla="*/ 0 h 6858000"/>
                <a:gd name="connsiteX2" fmla="*/ 7560613 w 7603010"/>
                <a:gd name="connsiteY2" fmla="*/ 66029 h 6858000"/>
                <a:gd name="connsiteX3" fmla="*/ 5976969 w 7603010"/>
                <a:gd name="connsiteY3" fmla="*/ 3048255 h 6858000"/>
                <a:gd name="connsiteX4" fmla="*/ 5976969 w 7603010"/>
                <a:gd name="connsiteY4" fmla="*/ 3806914 h 6858000"/>
                <a:gd name="connsiteX5" fmla="*/ 7560613 w 7603010"/>
                <a:gd name="connsiteY5" fmla="*/ 6789139 h 6858000"/>
                <a:gd name="connsiteX6" fmla="*/ 7603010 w 7603010"/>
                <a:gd name="connsiteY6" fmla="*/ 6858000 h 6858000"/>
                <a:gd name="connsiteX7" fmla="*/ 0 w 760301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3010" h="6858000">
                  <a:moveTo>
                    <a:pt x="0" y="0"/>
                  </a:moveTo>
                  <a:lnTo>
                    <a:pt x="7601266" y="0"/>
                  </a:lnTo>
                  <a:lnTo>
                    <a:pt x="7560613" y="66029"/>
                  </a:lnTo>
                  <a:lnTo>
                    <a:pt x="5976969" y="3048255"/>
                  </a:lnTo>
                  <a:cubicBezTo>
                    <a:pt x="5852321" y="3282984"/>
                    <a:pt x="5852321" y="3572184"/>
                    <a:pt x="5976969" y="3806914"/>
                  </a:cubicBezTo>
                  <a:lnTo>
                    <a:pt x="7560613" y="6789139"/>
                  </a:lnTo>
                  <a:lnTo>
                    <a:pt x="76030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B1FC53C-0ACD-4D20-21F4-0695FE659A37}"/>
                </a:ext>
              </a:extLst>
            </p:cNvPr>
            <p:cNvSpPr/>
            <p:nvPr userDrawn="1"/>
          </p:nvSpPr>
          <p:spPr>
            <a:xfrm>
              <a:off x="34117" y="0"/>
              <a:ext cx="7603010" cy="6858000"/>
            </a:xfrm>
            <a:custGeom>
              <a:avLst/>
              <a:gdLst>
                <a:gd name="connsiteX0" fmla="*/ 0 w 7603010"/>
                <a:gd name="connsiteY0" fmla="*/ 0 h 6858000"/>
                <a:gd name="connsiteX1" fmla="*/ 7601266 w 7603010"/>
                <a:gd name="connsiteY1" fmla="*/ 0 h 6858000"/>
                <a:gd name="connsiteX2" fmla="*/ 7560613 w 7603010"/>
                <a:gd name="connsiteY2" fmla="*/ 66029 h 6858000"/>
                <a:gd name="connsiteX3" fmla="*/ 5976969 w 7603010"/>
                <a:gd name="connsiteY3" fmla="*/ 3048255 h 6858000"/>
                <a:gd name="connsiteX4" fmla="*/ 5976969 w 7603010"/>
                <a:gd name="connsiteY4" fmla="*/ 3806914 h 6858000"/>
                <a:gd name="connsiteX5" fmla="*/ 7560613 w 7603010"/>
                <a:gd name="connsiteY5" fmla="*/ 6789139 h 6858000"/>
                <a:gd name="connsiteX6" fmla="*/ 7603010 w 7603010"/>
                <a:gd name="connsiteY6" fmla="*/ 6858000 h 6858000"/>
                <a:gd name="connsiteX7" fmla="*/ 0 w 760301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03010" h="6858000">
                  <a:moveTo>
                    <a:pt x="0" y="0"/>
                  </a:moveTo>
                  <a:lnTo>
                    <a:pt x="7601266" y="0"/>
                  </a:lnTo>
                  <a:lnTo>
                    <a:pt x="7560613" y="66029"/>
                  </a:lnTo>
                  <a:lnTo>
                    <a:pt x="5976969" y="3048255"/>
                  </a:lnTo>
                  <a:cubicBezTo>
                    <a:pt x="5852321" y="3282984"/>
                    <a:pt x="5852321" y="3572184"/>
                    <a:pt x="5976969" y="3806914"/>
                  </a:cubicBezTo>
                  <a:lnTo>
                    <a:pt x="7560613" y="6789139"/>
                  </a:lnTo>
                  <a:lnTo>
                    <a:pt x="76030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SLIDE TITLE">
            <a:extLst>
              <a:ext uri="{FF2B5EF4-FFF2-40B4-BE49-F238E27FC236}">
                <a16:creationId xmlns:a16="http://schemas.microsoft.com/office/drawing/2014/main" id="{13F3D92F-AB64-0104-50FF-8DA8B7041A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6298" y="1549401"/>
            <a:ext cx="5387571" cy="2387600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of presentation goes here</a:t>
            </a:r>
          </a:p>
        </p:txBody>
      </p:sp>
      <p:sp>
        <p:nvSpPr>
          <p:cNvPr id="3" name="PRESENTER NAME">
            <a:extLst>
              <a:ext uri="{FF2B5EF4-FFF2-40B4-BE49-F238E27FC236}">
                <a16:creationId xmlns:a16="http://schemas.microsoft.com/office/drawing/2014/main" id="{778C2FA6-939D-4F08-E7CE-33430FE8E0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6298" y="4135932"/>
            <a:ext cx="5387571" cy="274320"/>
          </a:xfrm>
        </p:spPr>
        <p:txBody>
          <a:bodyPr anchor="ctr">
            <a:noAutofit/>
          </a:bodyPr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 Name Here</a:t>
            </a:r>
          </a:p>
        </p:txBody>
      </p:sp>
      <p:pic>
        <p:nvPicPr>
          <p:cNvPr id="16" name="BLUE HEXAGON">
            <a:extLst>
              <a:ext uri="{FF2B5EF4-FFF2-40B4-BE49-F238E27FC236}">
                <a16:creationId xmlns:a16="http://schemas.microsoft.com/office/drawing/2014/main" id="{659A8D7B-89A4-18E9-4F6D-C0047FE110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7782" y="1032681"/>
            <a:ext cx="7056645" cy="4792638"/>
          </a:xfrm>
          <a:prstGeom prst="rect">
            <a:avLst/>
          </a:prstGeom>
        </p:spPr>
      </p:pic>
      <p:sp>
        <p:nvSpPr>
          <p:cNvPr id="40" name="JOB OR ROLE PLACEHOLDER">
            <a:extLst>
              <a:ext uri="{FF2B5EF4-FFF2-40B4-BE49-F238E27FC236}">
                <a16:creationId xmlns:a16="http://schemas.microsoft.com/office/drawing/2014/main" id="{B8F196B5-FE49-EF02-2EB6-98564670C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6298" y="4465695"/>
            <a:ext cx="5378877" cy="274320"/>
          </a:xfrm>
        </p:spPr>
        <p:txBody>
          <a:bodyPr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Job or Role Here</a:t>
            </a:r>
          </a:p>
        </p:txBody>
      </p:sp>
      <p:sp>
        <p:nvSpPr>
          <p:cNvPr id="42" name="DATE TEXT HOLDER">
            <a:extLst>
              <a:ext uri="{FF2B5EF4-FFF2-40B4-BE49-F238E27FC236}">
                <a16:creationId xmlns:a16="http://schemas.microsoft.com/office/drawing/2014/main" id="{989AE8E9-A085-613C-D89E-81549B7813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298" y="5389188"/>
            <a:ext cx="5378450" cy="40957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MM/DD/YYYY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55265-B906-E96C-ED28-1CD7B1451EFB}"/>
              </a:ext>
            </a:extLst>
          </p:cNvPr>
          <p:cNvSpPr txBox="1"/>
          <p:nvPr userDrawn="1"/>
        </p:nvSpPr>
        <p:spPr>
          <a:xfrm>
            <a:off x="7553576" y="2334100"/>
            <a:ext cx="3305056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Franklin Gothic Medium" panose="020B06030201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OSS AI </a:t>
            </a:r>
            <a:br>
              <a:rPr lang="en-US" sz="6000">
                <a:solidFill>
                  <a:schemeClr val="bg1"/>
                </a:solidFill>
                <a:latin typeface="Franklin Gothic Medium" panose="020B06030201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</a:br>
            <a:r>
              <a:rPr lang="en-US" sz="6000">
                <a:solidFill>
                  <a:schemeClr val="bg1"/>
                </a:solidFill>
                <a:latin typeface="Franklin Gothic Medium" panose="020B06030201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Summit</a:t>
            </a:r>
          </a:p>
        </p:txBody>
      </p:sp>
    </p:spTree>
    <p:extLst>
      <p:ext uri="{BB962C8B-B14F-4D97-AF65-F5344CB8AC3E}">
        <p14:creationId xmlns:p14="http://schemas.microsoft.com/office/powerpoint/2010/main" val="3338912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3428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aka.ms/oss-ai-summit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FE4A71F-0FB4-BF17-CBEC-D0B03DFE5255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AE87C-ED52-11C2-2DB3-2CEC22DC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2BF59-1BA0-DD82-5953-C7AEC40D3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089B4-6BAF-C0BD-2EFD-078E05BF0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201BE-DEB1-0242-BE53-C6744C6DDF61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A0B3D-9312-FF3B-D57C-EF201F7D1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883F5-0F63-B3CF-3F95-8A84C0363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4470F-B331-5E48-87B2-5860AB1D89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66F0F-AFDF-550F-A113-1EB308C6AD13}"/>
              </a:ext>
            </a:extLst>
          </p:cNvPr>
          <p:cNvSpPr txBox="1"/>
          <p:nvPr userDrawn="1"/>
        </p:nvSpPr>
        <p:spPr>
          <a:xfrm>
            <a:off x="838201" y="6343511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0" u="none" dirty="0">
                <a:solidFill>
                  <a:srgbClr val="00ADFC"/>
                </a:solidFill>
                <a:latin typeface="Segoe UI"/>
                <a:cs typeface="Segoe UI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aka.ms/oss-ai-summit</a:t>
            </a:r>
            <a:endParaRPr lang="en-US" sz="1600" b="0" u="none" dirty="0">
              <a:solidFill>
                <a:srgbClr val="00ADFC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A442C5-3C0F-CCDB-2B37-C12341EB316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3334" y="6417765"/>
            <a:ext cx="234845" cy="23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40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ka.ms/oss-ai-summ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7E9C-2175-A494-BBF6-E53696586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374" y="2235200"/>
            <a:ext cx="5387571" cy="2387600"/>
          </a:xfrm>
        </p:spPr>
        <p:txBody>
          <a:bodyPr anchor="ctr">
            <a:normAutofit/>
          </a:bodyPr>
          <a:lstStyle/>
          <a:p>
            <a:r>
              <a:rPr lang="en-GB" dirty="0"/>
              <a:t>LangChain v1 Explained: Agents, Tools, and Beyond</a:t>
            </a:r>
            <a:endParaRPr lang="en-US" sz="7200" dirty="0">
              <a:latin typeface="Franklin Gothic Medium" panose="020B0603020102020204" pitchFamily="34" charset="0"/>
              <a:cs typeface="Segoe UI Semibold"/>
            </a:endParaRPr>
          </a:p>
        </p:txBody>
      </p:sp>
      <p:pic>
        <p:nvPicPr>
          <p:cNvPr id="8" name="Graphic 7" descr="Microsoft Reactor Logo">
            <a:extLst>
              <a:ext uri="{FF2B5EF4-FFF2-40B4-BE49-F238E27FC236}">
                <a16:creationId xmlns:a16="http://schemas.microsoft.com/office/drawing/2014/main" id="{49806B54-F1BC-9DDA-A622-92717DF4F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528" y="5918542"/>
            <a:ext cx="1230376" cy="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7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3850-4F9C-100C-F4BD-64F7EC52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Who are we?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4F6D7-1F6B-B3E3-5637-69C162683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823479"/>
            <a:ext cx="5181600" cy="13534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Marlene </a:t>
            </a:r>
            <a:r>
              <a:rPr lang="en-US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Mhangami</a:t>
            </a:r>
            <a:br>
              <a:rPr lang="en-US" dirty="0"/>
            </a:br>
            <a:r>
              <a:rPr lang="en-US" dirty="0"/>
              <a:t>Senior Developer Advocate​</a:t>
            </a:r>
            <a:br>
              <a:rPr lang="en-US" dirty="0"/>
            </a:br>
            <a:r>
              <a:rPr lang="en-US" dirty="0"/>
              <a:t>@ Python Team</a:t>
            </a:r>
            <a:endParaRPr lang="en-FR" dirty="0"/>
          </a:p>
          <a:p>
            <a:pPr marL="0" indent="0" algn="ctr">
              <a:buNone/>
            </a:pPr>
            <a:endParaRPr lang="en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BF130-C8ED-09F2-405C-B4B543189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823479"/>
            <a:ext cx="5181600" cy="13534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Yohan Lasorsa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​</a:t>
            </a:r>
            <a:br>
              <a:rPr lang="en-US" dirty="0"/>
            </a:br>
            <a:r>
              <a:rPr lang="en-US" dirty="0"/>
              <a:t>Principal Developer Advocate​</a:t>
            </a:r>
            <a:br>
              <a:rPr lang="en-US" dirty="0"/>
            </a:br>
            <a:r>
              <a:rPr lang="en-US" dirty="0"/>
              <a:t>@ JavaScript Team</a:t>
            </a:r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B01FA-E5C0-FCFC-9E9E-11120D4C6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959" y="1825625"/>
            <a:ext cx="2854081" cy="2862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45F3D3-F6B4-1FF8-C8A0-2CE2AEA67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1961" y="1742120"/>
            <a:ext cx="2854081" cy="285408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70397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207D-F1C4-3107-1564-8557063E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LangChain? 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6636-501B-1718-E4D5-3A6ABB9CB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FR" sz="3200" dirty="0"/>
              <a:t>Open-source framework for building LLM-powered apps</a:t>
            </a:r>
          </a:p>
          <a:p>
            <a:pPr>
              <a:lnSpc>
                <a:spcPct val="150000"/>
              </a:lnSpc>
            </a:pPr>
            <a:r>
              <a:rPr lang="en-FR" sz="3200" dirty="0"/>
              <a:t>Provides high level abstractions </a:t>
            </a:r>
            <a:r>
              <a:rPr lang="en-FR" dirty="0">
                <a:solidFill>
                  <a:schemeClr val="bg1">
                    <a:lumMod val="50000"/>
                  </a:schemeClr>
                </a:solidFill>
              </a:rPr>
              <a:t>(models, agents, memory…)</a:t>
            </a:r>
          </a:p>
          <a:p>
            <a:pPr>
              <a:lnSpc>
                <a:spcPct val="150000"/>
              </a:lnSpc>
            </a:pPr>
            <a:r>
              <a:rPr lang="en-FR" sz="3200" dirty="0"/>
              <a:t>Bridges data + reasoning</a:t>
            </a:r>
          </a:p>
          <a:p>
            <a:pPr>
              <a:lnSpc>
                <a:spcPct val="150000"/>
              </a:lnSpc>
            </a:pPr>
            <a:r>
              <a:rPr lang="en-FR" sz="3200" dirty="0"/>
              <a:t>Active community and momentum</a:t>
            </a:r>
          </a:p>
          <a:p>
            <a:pPr marL="0" indent="0">
              <a:lnSpc>
                <a:spcPct val="150000"/>
              </a:lnSpc>
              <a:buNone/>
            </a:pPr>
            <a:endParaRPr lang="en-FR" sz="3200" dirty="0"/>
          </a:p>
        </p:txBody>
      </p:sp>
    </p:spTree>
    <p:extLst>
      <p:ext uri="{BB962C8B-B14F-4D97-AF65-F5344CB8AC3E}">
        <p14:creationId xmlns:p14="http://schemas.microsoft.com/office/powerpoint/2010/main" val="289655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ED9B4-3032-2B94-7287-9FC116BC6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DF2144-5F98-5B46-BA36-19271FA27E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FR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Core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5C4628-C085-47FA-C94E-CDA527F99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451810"/>
              </p:ext>
            </p:extLst>
          </p:nvPr>
        </p:nvGraphicFramePr>
        <p:xfrm>
          <a:off x="586580" y="1690688"/>
          <a:ext cx="11018839" cy="420032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3745307">
                  <a:extLst>
                    <a:ext uri="{9D8B030D-6E8A-4147-A177-3AD203B41FA5}">
                      <a16:colId xmlns:a16="http://schemas.microsoft.com/office/drawing/2014/main" val="317600551"/>
                    </a:ext>
                  </a:extLst>
                </a:gridCol>
                <a:gridCol w="7273532">
                  <a:extLst>
                    <a:ext uri="{9D8B030D-6E8A-4147-A177-3AD203B41FA5}">
                      <a16:colId xmlns:a16="http://schemas.microsoft.com/office/drawing/2014/main" val="2674397749"/>
                    </a:ext>
                  </a:extLst>
                </a:gridCol>
              </a:tblGrid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Component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Usage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835222990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Models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LLM and embeddings abstraction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42095323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Messages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Input/output content abstraction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894958227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Tools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2400" dirty="0"/>
                        <a:t>Functions that can be called by agents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3857777102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Agents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Loop models and tools towards a goal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518577940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Middleware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Hook into agents execution steps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334561996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Memory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Store interactions and checkpoints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958046714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Streaming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Surface real-time updates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2330882616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DEEB46-677E-20C3-161E-86AB4F127EB7}"/>
              </a:ext>
            </a:extLst>
          </p:cNvPr>
          <p:cNvSpPr/>
          <p:nvPr/>
        </p:nvSpPr>
        <p:spPr>
          <a:xfrm>
            <a:off x="543339" y="2206487"/>
            <a:ext cx="11105322" cy="1570383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477525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51133-E6F2-1201-0B07-F671AC75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ADF1B82-BEEB-5235-5F6C-AE3ECAD294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FR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Core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361F6F-C833-AF16-52E4-A96DD238E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666824"/>
              </p:ext>
            </p:extLst>
          </p:nvPr>
        </p:nvGraphicFramePr>
        <p:xfrm>
          <a:off x="586580" y="1690688"/>
          <a:ext cx="11018839" cy="420032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3745307">
                  <a:extLst>
                    <a:ext uri="{9D8B030D-6E8A-4147-A177-3AD203B41FA5}">
                      <a16:colId xmlns:a16="http://schemas.microsoft.com/office/drawing/2014/main" val="317600551"/>
                    </a:ext>
                  </a:extLst>
                </a:gridCol>
                <a:gridCol w="7273532">
                  <a:extLst>
                    <a:ext uri="{9D8B030D-6E8A-4147-A177-3AD203B41FA5}">
                      <a16:colId xmlns:a16="http://schemas.microsoft.com/office/drawing/2014/main" val="2674397749"/>
                    </a:ext>
                  </a:extLst>
                </a:gridCol>
              </a:tblGrid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Component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Usage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835222990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Models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LLM and embeddings abstraction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42095323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Messages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Input/output content abstraction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894958227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Tools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2400" dirty="0"/>
                        <a:t>Functions that can be called by agents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3857777102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Agents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Loop models and tools towards a goal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518577940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Middleware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Hook into agents execution steps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334561996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Memory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Store interactions and checkpoints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958046714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Streaming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Surface real-time updates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2330882616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77E0D3-C6D1-8F20-01AD-028CD89286F3}"/>
              </a:ext>
            </a:extLst>
          </p:cNvPr>
          <p:cNvSpPr/>
          <p:nvPr/>
        </p:nvSpPr>
        <p:spPr>
          <a:xfrm>
            <a:off x="543339" y="3790848"/>
            <a:ext cx="11105322" cy="1570383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29029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F4C4-8C12-1A17-A74F-7A2B8C83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DCEC79-C67A-4A85-8E09-10B395F6CE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FR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Core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387B23-7ED2-EBA3-1840-68700A5DE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911253"/>
              </p:ext>
            </p:extLst>
          </p:nvPr>
        </p:nvGraphicFramePr>
        <p:xfrm>
          <a:off x="586580" y="1690688"/>
          <a:ext cx="11018839" cy="420032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3745307">
                  <a:extLst>
                    <a:ext uri="{9D8B030D-6E8A-4147-A177-3AD203B41FA5}">
                      <a16:colId xmlns:a16="http://schemas.microsoft.com/office/drawing/2014/main" val="317600551"/>
                    </a:ext>
                  </a:extLst>
                </a:gridCol>
                <a:gridCol w="7273532">
                  <a:extLst>
                    <a:ext uri="{9D8B030D-6E8A-4147-A177-3AD203B41FA5}">
                      <a16:colId xmlns:a16="http://schemas.microsoft.com/office/drawing/2014/main" val="2674397749"/>
                    </a:ext>
                  </a:extLst>
                </a:gridCol>
              </a:tblGrid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Component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Usage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835222990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Models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LLM and embeddings abstraction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42095323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Messages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Input/output content abstraction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894958227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Tools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2400" dirty="0"/>
                        <a:t>Functions that can be called by agents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3857777102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Agents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Loop models and tools towards a goal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518577940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Middleware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Hook into agents execution steps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334561996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Memory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Store interactions and checkpoints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1958046714"/>
                  </a:ext>
                </a:extLst>
              </a:tr>
              <a:tr h="525040">
                <a:tc>
                  <a:txBody>
                    <a:bodyPr/>
                    <a:lstStyle/>
                    <a:p>
                      <a:r>
                        <a:rPr lang="en-FR" sz="2400" dirty="0"/>
                        <a:t>Streaming</a:t>
                      </a:r>
                    </a:p>
                  </a:txBody>
                  <a:tcPr marL="122693" marR="122693" marT="61346" marB="61346"/>
                </a:tc>
                <a:tc>
                  <a:txBody>
                    <a:bodyPr/>
                    <a:lstStyle/>
                    <a:p>
                      <a:r>
                        <a:rPr lang="en-FR" sz="2400" dirty="0"/>
                        <a:t>Surface real-time updates</a:t>
                      </a:r>
                    </a:p>
                  </a:txBody>
                  <a:tcPr marL="122693" marR="122693" marT="61346" marB="61346"/>
                </a:tc>
                <a:extLst>
                  <a:ext uri="{0D108BD9-81ED-4DB2-BD59-A6C34878D82A}">
                    <a16:rowId xmlns:a16="http://schemas.microsoft.com/office/drawing/2014/main" val="2330882616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0169FB7-EFA9-AE3E-6CD4-908D3BE56475}"/>
              </a:ext>
            </a:extLst>
          </p:cNvPr>
          <p:cNvSpPr/>
          <p:nvPr/>
        </p:nvSpPr>
        <p:spPr>
          <a:xfrm>
            <a:off x="543339" y="5347252"/>
            <a:ext cx="11105322" cy="543756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61801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0A234-403E-B02E-27E3-CBA682F5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Agents are the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2218-352E-9893-E759-9BACE4FEE9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FR" sz="3200" dirty="0">
                <a:solidFill>
                  <a:schemeClr val="accent1"/>
                </a:solidFill>
              </a:rPr>
              <a:t>LangChain</a:t>
            </a:r>
            <a:endParaRPr lang="en-FR" dirty="0">
              <a:solidFill>
                <a:schemeClr val="accent1"/>
              </a:solidFill>
            </a:endParaRPr>
          </a:p>
          <a:p>
            <a:pPr>
              <a:spcAft>
                <a:spcPts val="1200"/>
              </a:spcAft>
            </a:pPr>
            <a:r>
              <a:rPr lang="en-FR" dirty="0"/>
              <a:t>Standard agent loop with </a:t>
            </a:r>
            <a:r>
              <a:rPr lang="en-FR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create_agent</a:t>
            </a:r>
          </a:p>
          <a:p>
            <a:pPr>
              <a:spcAft>
                <a:spcPts val="1200"/>
              </a:spcAft>
            </a:pPr>
            <a:r>
              <a:rPr lang="en-FR" dirty="0">
                <a:cs typeface="Consolas" panose="020B0609020204030204" pitchFamily="49" charset="0"/>
              </a:rPr>
              <a:t>Common conversational agents</a:t>
            </a:r>
          </a:p>
          <a:p>
            <a:pPr>
              <a:spcAft>
                <a:spcPts val="1200"/>
              </a:spcAft>
            </a:pPr>
            <a:r>
              <a:rPr lang="en-FR" dirty="0">
                <a:cs typeface="Consolas" panose="020B0609020204030204" pitchFamily="49" charset="0"/>
              </a:rPr>
              <a:t>Simple and high-level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5CF37-3D55-B6E0-C4C2-B6D45CA710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FR" sz="3200" dirty="0">
                <a:solidFill>
                  <a:schemeClr val="accent1"/>
                </a:solidFill>
              </a:rPr>
              <a:t>LangGraph</a:t>
            </a:r>
          </a:p>
          <a:p>
            <a:pPr>
              <a:spcAft>
                <a:spcPts val="1200"/>
              </a:spcAft>
            </a:pPr>
            <a:r>
              <a:rPr lang="en-FR" dirty="0"/>
              <a:t>Graph-based execution for fine-grained orchestration</a:t>
            </a:r>
          </a:p>
          <a:p>
            <a:pPr>
              <a:spcAft>
                <a:spcPts val="1200"/>
              </a:spcAft>
            </a:pPr>
            <a:r>
              <a:rPr lang="en-FR" dirty="0"/>
              <a:t>Custom workflow and automation</a:t>
            </a:r>
          </a:p>
          <a:p>
            <a:pPr>
              <a:spcAft>
                <a:spcPts val="1200"/>
              </a:spcAft>
            </a:pPr>
            <a:r>
              <a:rPr lang="en-FR" dirty="0"/>
              <a:t>Full control, more low-level</a:t>
            </a:r>
          </a:p>
        </p:txBody>
      </p:sp>
    </p:spTree>
    <p:extLst>
      <p:ext uri="{BB962C8B-B14F-4D97-AF65-F5344CB8AC3E}">
        <p14:creationId xmlns:p14="http://schemas.microsoft.com/office/powerpoint/2010/main" val="172907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29FF-59E3-8109-096D-47F695B4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Middlewares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E0DE-EF8D-A558-8BC1-2AFE2BD9F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Customizable hooks</a:t>
            </a:r>
            <a:r>
              <a:rPr lang="en-GB" dirty="0">
                <a:solidFill>
                  <a:schemeClr val="accent4"/>
                </a:solidFill>
              </a:rPr>
              <a:t> </a:t>
            </a:r>
            <a:r>
              <a:rPr lang="en-GB" dirty="0"/>
              <a:t>in the agent loop for dynamic control</a:t>
            </a:r>
          </a:p>
          <a:p>
            <a:pPr marL="0" indent="0">
              <a:buNone/>
            </a:pPr>
            <a:endParaRPr lang="en-GB" dirty="0"/>
          </a:p>
          <a:p>
            <a:pPr marL="0" indent="0" fontAlgn="t">
              <a:buNone/>
            </a:pPr>
            <a:r>
              <a:rPr lang="en-GB" sz="3200" dirty="0">
                <a:solidFill>
                  <a:schemeClr val="accent1"/>
                </a:solidFill>
              </a:rPr>
              <a:t>Built-in </a:t>
            </a:r>
            <a:r>
              <a:rPr lang="en-GB" sz="3200" dirty="0" err="1">
                <a:solidFill>
                  <a:schemeClr val="accent1"/>
                </a:solidFill>
              </a:rPr>
              <a:t>Middlewares</a:t>
            </a:r>
            <a:endParaRPr lang="en-GB" sz="3200" dirty="0">
              <a:solidFill>
                <a:schemeClr val="accent1"/>
              </a:solidFill>
            </a:endParaRPr>
          </a:p>
          <a:p>
            <a:pPr fontAlgn="t">
              <a:spcAft>
                <a:spcPts val="1200"/>
              </a:spcAft>
            </a:pPr>
            <a:r>
              <a:rPr lang="en-GB" b="1" dirty="0"/>
              <a:t>Human-in-the-Loop:</a:t>
            </a:r>
            <a:r>
              <a:rPr lang="en-GB" dirty="0"/>
              <a:t> User approval before sensitive actions</a:t>
            </a:r>
          </a:p>
          <a:p>
            <a:pPr fontAlgn="t">
              <a:spcAft>
                <a:spcPts val="1200"/>
              </a:spcAft>
            </a:pPr>
            <a:r>
              <a:rPr lang="en-GB" b="1" dirty="0"/>
              <a:t>Summarization:</a:t>
            </a:r>
            <a:r>
              <a:rPr lang="en-GB" dirty="0"/>
              <a:t> Condense chat history to fit token limits</a:t>
            </a:r>
          </a:p>
          <a:p>
            <a:pPr fontAlgn="t">
              <a:spcAft>
                <a:spcPts val="1200"/>
              </a:spcAft>
            </a:pPr>
            <a:r>
              <a:rPr lang="en-GB" b="1" dirty="0"/>
              <a:t>PII Redaction:</a:t>
            </a:r>
            <a:r>
              <a:rPr lang="en-GB" dirty="0"/>
              <a:t> Detect and redact sensitive data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17846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72905-AA00-AC25-6B75-80A492AD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218C-3404-18E6-E4E0-5B99D6C4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Deep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26167-360E-7927-E279-BE250019A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Agents with extended </a:t>
            </a:r>
            <a:r>
              <a:rPr lang="en-GB" b="1" dirty="0"/>
              <a:t>autonomy</a:t>
            </a:r>
            <a:r>
              <a:rPr lang="en-GB" dirty="0"/>
              <a:t> and </a:t>
            </a:r>
            <a:r>
              <a:rPr lang="en-GB" b="1" dirty="0"/>
              <a:t>persistence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 fontAlgn="t">
              <a:buNone/>
            </a:pPr>
            <a:r>
              <a:rPr lang="en-GB" sz="3500" dirty="0">
                <a:solidFill>
                  <a:schemeClr val="accent1"/>
                </a:solidFill>
              </a:rPr>
              <a:t>Extra Capabilities</a:t>
            </a:r>
          </a:p>
          <a:p>
            <a:pPr fontAlgn="t"/>
            <a:r>
              <a:rPr lang="en-GB" b="1" dirty="0"/>
              <a:t>Persistent Memory:</a:t>
            </a:r>
            <a:r>
              <a:rPr lang="en-GB" dirty="0"/>
              <a:t> Stores knowledge across sessions</a:t>
            </a:r>
          </a:p>
          <a:p>
            <a:pPr fontAlgn="t"/>
            <a:r>
              <a:rPr lang="en-GB" b="1" dirty="0"/>
              <a:t>Filesystem Access:</a:t>
            </a:r>
            <a:r>
              <a:rPr lang="en-GB" dirty="0"/>
              <a:t> Read/write/edit files locally</a:t>
            </a:r>
          </a:p>
          <a:p>
            <a:pPr fontAlgn="t"/>
            <a:r>
              <a:rPr lang="en-GB" b="1" dirty="0"/>
              <a:t>Planning:</a:t>
            </a:r>
            <a:r>
              <a:rPr lang="en-GB" dirty="0"/>
              <a:t> Break tasks into steps, built-in </a:t>
            </a:r>
            <a:r>
              <a:rPr lang="en-GB" dirty="0" err="1"/>
              <a:t>todos</a:t>
            </a:r>
            <a:endParaRPr lang="en-GB" dirty="0"/>
          </a:p>
          <a:p>
            <a:pPr fontAlgn="t"/>
            <a:r>
              <a:rPr lang="en-GB" b="1" dirty="0"/>
              <a:t>Subagents: </a:t>
            </a:r>
            <a:r>
              <a:rPr lang="en-GB" dirty="0"/>
              <a:t>Delegate to specialized subagents</a:t>
            </a:r>
          </a:p>
          <a:p>
            <a:pPr fontAlgn="t"/>
            <a:r>
              <a:rPr lang="en-GB" b="1" dirty="0"/>
              <a:t>Long-Running Workflows:</a:t>
            </a:r>
            <a:r>
              <a:rPr lang="en-GB" dirty="0"/>
              <a:t> Resume after interruptions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93269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9E378-F664-96AE-9EA7-608684BC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D078CA8-B215-7037-E107-8FE92E18BB6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91374" y="1807875"/>
            <a:ext cx="8120998" cy="245711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Free course</a:t>
            </a:r>
            <a:b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en-GB" sz="5400" dirty="0"/>
              <a:t>LangChain for Beginners</a:t>
            </a:r>
            <a:endParaRPr kumimoji="0" lang="en-GB" sz="5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 Display"/>
              <a:ea typeface="+mj-ea"/>
              <a:cs typeface="Segoe UI Semi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2040F8-E17A-AD0B-44A5-B091E67E0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374" y="3909390"/>
            <a:ext cx="1395047" cy="13950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4D0770-8365-9A6A-46B1-7A536049A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8522" y="3909390"/>
            <a:ext cx="1395047" cy="1395047"/>
          </a:xfrm>
          <a:prstGeom prst="rect">
            <a:avLst/>
          </a:prstGeom>
        </p:spPr>
      </p:pic>
      <p:pic>
        <p:nvPicPr>
          <p:cNvPr id="10" name="Picture 9" descr="Fichier:Java Logo.svg">
            <a:extLst>
              <a:ext uri="{FF2B5EF4-FFF2-40B4-BE49-F238E27FC236}">
                <a16:creationId xmlns:a16="http://schemas.microsoft.com/office/drawing/2014/main" id="{A7062586-5B5D-BCB6-2E05-9CF4EFB97506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05670" y="3956509"/>
            <a:ext cx="1047750" cy="139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6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05E2C-7863-CC0A-A523-6ACB9F38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6DFB02-6FFA-DDA2-3C77-6F0204B0925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94516" y="495323"/>
            <a:ext cx="5387571" cy="245711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Thank you!</a:t>
            </a:r>
            <a:endParaRPr kumimoji="0" lang="en-GB" sz="5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 Display"/>
              <a:ea typeface="+mj-ea"/>
              <a:cs typeface="Segoe UI Semi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7231A-0AF3-9643-9249-41B4077BB23E}"/>
              </a:ext>
            </a:extLst>
          </p:cNvPr>
          <p:cNvSpPr txBox="1"/>
          <p:nvPr/>
        </p:nvSpPr>
        <p:spPr>
          <a:xfrm>
            <a:off x="2966495" y="3564475"/>
            <a:ext cx="30071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Any question? Join us on </a:t>
            </a:r>
          </a:p>
          <a:p>
            <a:r>
              <a:rPr lang="en-US" dirty="0"/>
              <a:t>Microsoft Foundry Discord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278C8-9FA7-117F-28F6-F7CCDA0BF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16" y="2772003"/>
            <a:ext cx="2267118" cy="2267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99A8C3-9C82-AE87-003F-465F71B38623}"/>
              </a:ext>
            </a:extLst>
          </p:cNvPr>
          <p:cNvSpPr txBox="1"/>
          <p:nvPr/>
        </p:nvSpPr>
        <p:spPr>
          <a:xfrm>
            <a:off x="594516" y="5839457"/>
            <a:ext cx="400095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dirty="0">
                <a:solidFill>
                  <a:srgbClr val="B92DBE"/>
                </a:solidFill>
                <a:latin typeface="Segoe UI"/>
                <a:cs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aka.ms/oss-ai-summit</a:t>
            </a:r>
            <a:endParaRPr lang="en-US" sz="2800" dirty="0">
              <a:solidFill>
                <a:srgbClr val="B92DBE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45861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8410</TotalTime>
  <Words>350</Words>
  <Application>Microsoft Macintosh PowerPoint</Application>
  <PresentationFormat>Widescreen</PresentationFormat>
  <Paragraphs>99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Franklin Gothic Medium</vt:lpstr>
      <vt:lpstr>Segoe UI</vt:lpstr>
      <vt:lpstr>Segoe UI Light</vt:lpstr>
      <vt:lpstr>Office Theme</vt:lpstr>
      <vt:lpstr>LangChain v1 Explained: Agents, Tools, and Beyond</vt:lpstr>
      <vt:lpstr>Who are we?</vt:lpstr>
      <vt:lpstr>LangChain? 🤔</vt:lpstr>
      <vt:lpstr>Core overview</vt:lpstr>
      <vt:lpstr>Core overview</vt:lpstr>
      <vt:lpstr>Core overview</vt:lpstr>
      <vt:lpstr>Agents are the focus</vt:lpstr>
      <vt:lpstr>Middlewares</vt:lpstr>
      <vt:lpstr>Deep Agents</vt:lpstr>
      <vt:lpstr>Free course LangChain for Beginners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Wahlin</dc:creator>
  <cp:lastModifiedBy>Yohan Lasorsa</cp:lastModifiedBy>
  <cp:revision>13</cp:revision>
  <dcterms:created xsi:type="dcterms:W3CDTF">2025-11-05T21:34:19Z</dcterms:created>
  <dcterms:modified xsi:type="dcterms:W3CDTF">2025-12-10T09:06:59Z</dcterms:modified>
</cp:coreProperties>
</file>